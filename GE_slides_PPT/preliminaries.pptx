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Title and authors taken verbatim from the current paper.
Sources:
- sources/Current-Paper-(Tex).txt :: Title block (\title and \author)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civic relevance. Speaker-note hook (not on slide): Amornsiripanitch (2020) estimates low-value owners can face effective tax rates up to 50% higher than high-value owners.
Sources:
- sources/Current-Paper-(Tex).txt :: Section 1, intro paragraph [Berry 2021]
- sources/Current-Paper-(Tex).txt :: Section 1 [Amornsiripanitch 2020 (speaker notes only)]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operational, not legalistic. Chicago's effective rate (~2–2.3%) is a speaker-note aside only. Formula is Unicode on-slide, not LaTeX.
Sources:
- sources/Current-Paper-(Tex).txt :: Section 1 and Section 2.1 (CCAO operational workflow)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softened from 'Most homes never sell' to 'Only a minority of homes sell' — paper supports the necessity logic without the stronger claim. The 1.5M parcels / triennial cycle fact grounds the scale.
Sources:
- sources/Current-Paper-(Tex).txt :: Section 1 (mass-appraisal definition, IAAO 2025 cite)
- sources/Current-Paper-(Tex).txt :: Section 2.1 (~1.5M parcels, triennial cycle)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introduce fairness, proxy-price, or interpretability concerns here — those come on slides 7–9. CCAO uses a LightGBM-based AVM as the concrete instance of the right column.
Sources:
- sources/Current-Paper-(Tex).txt :: Section 1 (ML for mass appraisal)
- sources/Current-Paper-(Tex).txt :: Section 2.1 (CCAO uses LightGBM-based AVM)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no longer fuses the 349,661 count with the 2016–2024 timeline. Paper Section 5: 349,661 verified residential sales in the modeling-ready sample (multicard PINs and office-flagged outliers excluded). Do not use the beamer's rough '&gt;350K / ~200 raw features' phrasing.
Sources:
- sources/Current-Paper-(Tex).txt :: Section 5 — Sample construction (349,661 observations)
- sources/Current-Paper-(Tex).txt :: Section 5 — Validation protocol (8 expanding-window folds)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Metric-light by design. Ratio notation is Unicode r = P̂ / P; do not use AV/MV. Horizontal equity contrasts dispersed (bad) vs tight (good) ratios; vertical equity shows ratios descending with value (regressive). This slide must be drawn as real shapes by the generator.
Sources:
- sources/Current-Paper-(Tex).txt :: Section 2 — Preliminaries (COD, PRD, PRB, VEI)
- sources/Current-Paper-(Tex).txt :: Section 2 — Assessment ratio definition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from paper Section 5, Table tab:baseline_models (2023 test set). Do not substitute the beamer's older snapshots (e.g., R² 0.798 vs 0.860, or R² 0.887 with MAE $71,337). IAAO thresholds shown as a footer so the audience can see LightGBM crosses each one while LR stays near them.
Sources:
- sources/Current-Paper-(Tex).txt :: Section 5, Table tab:baseline_models (2023 test set)
- sources/Current-Paper-(Tex).txt :: Section 1 — 'baseline tension' paragraph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corresponds to paper Figure fig:regressivity_motivation. If assets/figures/baseline_regressivity_plot.png is present, the generator must load it; otherwise it falls back to a native scatter with schematic but representative data (flag the schematic fallback in speaker notes when used). Log-price rationale appears as a short caption per paper discussion: sale prices are highly right-skewed so log-scale makes the trend comparable across value levels.
Sources:
- sources/Current-Paper-(Tex).txt :: Figure fig:regressivity_motivation (baseline LightGBM, 2023 test)
- sources/Current-Paper-(Tex).txt :: Section 1 — regressivity definition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94560"/>
            <a:ext cx="112772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Regressivity in ML-Based Mass Appraisal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Covariance-Penalty Layer for Assessor Workflows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112772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Acevedo</a:t>
            </a:r>
            <a:pPr algn="ctr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algn="ctr"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Operations Research Center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112772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Haihao Lu</a:t>
            </a:r>
            <a:pPr algn="ctr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algn="ctr"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Sloan School of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taxes fund local services, and assessments set everyone's share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6202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~72%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U.S. local tax revenue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6202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~47%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local own-source general revenue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886200"/>
            <a:ext cx="6202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~$500B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year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024041" y="2807208"/>
            <a:ext cx="420040" cy="197510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B8B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34032" y="4828032"/>
            <a:ext cx="6000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624099" y="2807208"/>
            <a:ext cx="420040" cy="1975104"/>
          </a:xfrm>
          <a:prstGeom prst="rightArrow">
            <a:avLst/>
          </a:prstGeom>
          <a:solidFill>
            <a:srgbClr val="D9E4F1"/>
          </a:solidFill>
          <a:ln w="9525">
            <a:solidFill>
              <a:srgbClr val="B8BE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4157" y="2807208"/>
            <a:ext cx="420040" cy="197510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B8BE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4148" y="4828032"/>
            <a:ext cx="6000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value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4215" y="2807208"/>
            <a:ext cx="420040" cy="1975104"/>
          </a:xfrm>
          <a:prstGeom prst="rightArrow">
            <a:avLst/>
          </a:prstGeom>
          <a:solidFill>
            <a:srgbClr val="D9E4F1"/>
          </a:solidFill>
          <a:ln w="9525">
            <a:solidFill>
              <a:srgbClr val="B8BE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24272" y="2807208"/>
            <a:ext cx="420040" cy="197510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B8BE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34264" y="4828032"/>
            <a:ext cx="6000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24330" y="2807208"/>
            <a:ext cx="420040" cy="197510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B8BE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34322" y="4828032"/>
            <a:ext cx="6000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624388" y="2807208"/>
            <a:ext cx="420040" cy="197510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B8BE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34379" y="4828032"/>
            <a:ext cx="6000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224446" y="2807208"/>
            <a:ext cx="420040" cy="197510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B8BE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34437" y="4828032"/>
            <a:ext cx="6000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5623560"/>
            <a:ext cx="112772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errors scale into real tax-burden shifts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Preliminaries · 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 bill is assessed value, minus exemptions, times a rate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874520"/>
            <a:ext cx="2407844" cy="1463040"/>
          </a:xfrm>
          <a:prstGeom prst="roundRect">
            <a:avLst/>
          </a:prstGeom>
          <a:solidFill>
            <a:srgbClr val="FFF4D6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65960"/>
            <a:ext cx="24078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22249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 estimates market value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56484" y="2423160"/>
            <a:ext cx="365760" cy="365760"/>
          </a:xfrm>
          <a:prstGeom prst="rightArrow">
            <a:avLst/>
          </a:prstGeom>
          <a:solidFill>
            <a:srgbClr val="D9E4F1"/>
          </a:solidFill>
          <a:ln w="6350">
            <a:solidFill>
              <a:srgbClr val="B8BE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3684" y="1874520"/>
            <a:ext cx="2407844" cy="146304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8BE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3684" y="1965960"/>
            <a:ext cx="24078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05124" y="2331720"/>
            <a:ext cx="22249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exemptions / base adjustments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12968" y="2423160"/>
            <a:ext cx="365760" cy="365760"/>
          </a:xfrm>
          <a:prstGeom prst="rightArrow">
            <a:avLst/>
          </a:prstGeom>
          <a:solidFill>
            <a:srgbClr val="D9E4F1"/>
          </a:solidFill>
          <a:ln w="6350">
            <a:solidFill>
              <a:srgbClr val="B8BE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0168" y="1874520"/>
            <a:ext cx="2407844" cy="146304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8BE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0168" y="1965960"/>
            <a:ext cx="24078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61608" y="2331720"/>
            <a:ext cx="22249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local tax rate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451" y="2423160"/>
            <a:ext cx="365760" cy="365760"/>
          </a:xfrm>
          <a:prstGeom prst="rightArrow">
            <a:avLst/>
          </a:prstGeom>
          <a:solidFill>
            <a:srgbClr val="D9E4F1"/>
          </a:solidFill>
          <a:ln w="6350">
            <a:solidFill>
              <a:srgbClr val="B8BE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651" y="1874520"/>
            <a:ext cx="2407844" cy="146304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8B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651" y="1965960"/>
            <a:ext cx="24078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18091" y="2331720"/>
            <a:ext cx="22249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tax bill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13258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tax ≈ (Assessed value − Exemptions) × Tax rate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assessor's estimate enters at step 1 — everything downstream is policy.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Preliminaries · 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minority of homes sell in a given year, yet every home must be valued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528212" y="1417320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33623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9034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44445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9856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5266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60677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66088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71499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76910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82321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87731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93142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8553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3964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09375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4785" y="1417320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0196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5607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31018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6429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41840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7250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52661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58072" y="141732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8212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33623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39034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44445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49856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5266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60677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66088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71499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76910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82321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87731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93142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98553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3964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09375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14785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20196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5607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31018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36429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41840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7250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52661" y="1617917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58072" y="1617917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28212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33623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39034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44445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49856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55266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60677" y="1818513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66088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71499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76910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82321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787731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93142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98553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3964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09375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14785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020196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225607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431018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36429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841840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47250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252661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458072" y="181851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28212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733623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939034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144445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349856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555266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60677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966088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171499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376910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582321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787731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993142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98553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403964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609375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814785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020196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225607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431018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36429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841840" y="2019110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47250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252661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458072" y="2019110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28212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33623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939034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144445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349856" y="2219706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555266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60677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966088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171499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376910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582321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87731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993142" y="2219706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198553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403964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609375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814785" y="2219706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020196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225607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31018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636429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841840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047250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252661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458072" y="221970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528212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733623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939034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144445" y="2420303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49856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5266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60677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966088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171499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376910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582321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787731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993142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198553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403964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609375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814785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020196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225607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431018" y="2420303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636429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841840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047250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252661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458072" y="2420303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528212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733623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939034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144445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349856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555266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760677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966088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171499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376910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582321" y="2620899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87731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93142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98553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03964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609375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814785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020196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225607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431018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636429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841840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047250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252661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458072" y="262089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528212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733623" y="2821496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939034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144445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4349856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4555266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4760677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4966088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171499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376910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5582321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5787731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993142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198553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403964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609375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814785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20196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225607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431018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36429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841840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8047250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252661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458072" y="2821496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528212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733623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939034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4144445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349856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4555266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4760677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4966088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5171499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5376910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5582321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5787731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5993142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198553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403964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09375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814785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020196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225607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431018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636429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841840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047250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52661" y="302209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458072" y="3022092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3528212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3733623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3939034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4144445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4349856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555266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4760677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4966088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5171499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5376910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5582321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5787731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5993142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6198553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403964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609375" y="3222689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814785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7020196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225607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7431018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7636429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7841840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047250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252661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458072" y="3222689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3528212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733623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3939034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4144445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4349856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4555266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4760677" y="3423285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4966088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5171499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5376910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5582321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5787731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5993142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6198553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6403964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6609375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6814785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020196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7225607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7431018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7636429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7841840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047250" y="3423285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8252661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458072" y="342328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528212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3733623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3939034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4144445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4349856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4555266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4760677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4966088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5171499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5376910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5582321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5787731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5993142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6198553" y="3623882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6403964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6609375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6814785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7020196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7225607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7431018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7636429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7841840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8047250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8252661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8458072" y="3623882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3528212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3733623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3939034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4144445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4349856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4555266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4760677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4966088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5171499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5376910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5582321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5787731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5993142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6198553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6403964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6609375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6814785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7020196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7225607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7431018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7636429" y="3824478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7841840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8047250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8252661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8458072" y="382447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3528212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3733623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3939034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4144445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4349856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4555266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4760677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4966088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5171499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5376910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5582321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5787731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5993142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6198553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6403964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6609375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6814785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7020196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7225607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7431018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7636429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7841840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8047250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8252661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8458072" y="4025075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3528212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3733623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3939034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4144445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4349856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4555266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4760677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4966088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5171499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5376910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5582321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5787731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5993142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6198553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6403964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6609375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6814785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7020196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7225607" y="4225671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7431018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7636429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7841840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8047250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8252661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8458072" y="4225671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3528212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3733623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3939034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4144445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4349856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4555266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4760677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4966088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5171499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5376910" y="4426268"/>
            <a:ext cx="187123" cy="182309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5582321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5787731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5993142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6198553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6403964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6609375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6814785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7020196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7225607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7431018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7636429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7841840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8047250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8252661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8458072" y="4426268"/>
            <a:ext cx="187123" cy="182309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3528212" y="4809744"/>
            <a:ext cx="228600" cy="228600"/>
          </a:xfrm>
          <a:prstGeom prst="rect">
            <a:avLst/>
          </a:prstGeom>
          <a:solidFill>
            <a:srgbClr val="1F4E79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04" name="Text 402"/>
          <p:cNvSpPr/>
          <p:nvPr/>
        </p:nvSpPr>
        <p:spPr>
          <a:xfrm>
            <a:off x="3802532" y="47640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/ observed price</a:t>
            </a:r>
            <a:endParaRPr lang="en-US" sz="1100" dirty="0"/>
          </a:p>
        </p:txBody>
      </p:sp>
      <p:sp>
        <p:nvSpPr>
          <p:cNvPr id="405" name="Shape 403"/>
          <p:cNvSpPr/>
          <p:nvPr/>
        </p:nvSpPr>
        <p:spPr>
          <a:xfrm>
            <a:off x="6637172" y="4809744"/>
            <a:ext cx="228600" cy="228600"/>
          </a:xfrm>
          <a:prstGeom prst="rect">
            <a:avLst/>
          </a:prstGeom>
          <a:solidFill>
            <a:srgbClr val="F2F4F7"/>
          </a:solidFill>
          <a:ln w="3175">
            <a:solidFill>
              <a:srgbClr val="B8BEC7"/>
            </a:solidFill>
            <a:prstDash val="solid"/>
          </a:ln>
        </p:spPr>
      </p:sp>
      <p:sp>
        <p:nvSpPr>
          <p:cNvPr id="406" name="Text 404"/>
          <p:cNvSpPr/>
          <p:nvPr/>
        </p:nvSpPr>
        <p:spPr>
          <a:xfrm>
            <a:off x="6911492" y="47640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 / must be estimated</a:t>
            </a:r>
            <a:endParaRPr lang="en-US" sz="1100" dirty="0"/>
          </a:p>
        </p:txBody>
      </p:sp>
      <p:sp>
        <p:nvSpPr>
          <p:cNvPr id="407" name="Shape 405"/>
          <p:cNvSpPr/>
          <p:nvPr/>
        </p:nvSpPr>
        <p:spPr>
          <a:xfrm>
            <a:off x="1478128" y="5312664"/>
            <a:ext cx="1463040" cy="365760"/>
          </a:xfrm>
          <a:prstGeom prst="roundRect">
            <a:avLst/>
          </a:prstGeom>
          <a:solidFill>
            <a:srgbClr val="D9E4F1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408" name="Text 406"/>
          <p:cNvSpPr/>
          <p:nvPr/>
        </p:nvSpPr>
        <p:spPr>
          <a:xfrm>
            <a:off x="1478128" y="53126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100" dirty="0"/>
          </a:p>
        </p:txBody>
      </p:sp>
      <p:sp>
        <p:nvSpPr>
          <p:cNvPr id="409" name="Shape 407"/>
          <p:cNvSpPr/>
          <p:nvPr/>
        </p:nvSpPr>
        <p:spPr>
          <a:xfrm>
            <a:off x="3032608" y="5312664"/>
            <a:ext cx="1463040" cy="365760"/>
          </a:xfrm>
          <a:prstGeom prst="roundRect">
            <a:avLst/>
          </a:prstGeom>
          <a:solidFill>
            <a:srgbClr val="D9E4F1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410" name="Text 408"/>
          <p:cNvSpPr/>
          <p:nvPr/>
        </p:nvSpPr>
        <p:spPr>
          <a:xfrm>
            <a:off x="3032608" y="53126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411" name="Shape 409"/>
          <p:cNvSpPr/>
          <p:nvPr/>
        </p:nvSpPr>
        <p:spPr>
          <a:xfrm>
            <a:off x="4587088" y="5312664"/>
            <a:ext cx="1463040" cy="365760"/>
          </a:xfrm>
          <a:prstGeom prst="roundRect">
            <a:avLst/>
          </a:prstGeom>
          <a:solidFill>
            <a:srgbClr val="D9E4F1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412" name="Text 410"/>
          <p:cNvSpPr/>
          <p:nvPr/>
        </p:nvSpPr>
        <p:spPr>
          <a:xfrm>
            <a:off x="4587088" y="53126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1100" dirty="0"/>
          </a:p>
        </p:txBody>
      </p:sp>
      <p:sp>
        <p:nvSpPr>
          <p:cNvPr id="413" name="Shape 411"/>
          <p:cNvSpPr/>
          <p:nvPr/>
        </p:nvSpPr>
        <p:spPr>
          <a:xfrm>
            <a:off x="6141568" y="5312664"/>
            <a:ext cx="1463040" cy="365760"/>
          </a:xfrm>
          <a:prstGeom prst="roundRect">
            <a:avLst/>
          </a:prstGeom>
          <a:solidFill>
            <a:srgbClr val="D9E4F1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414" name="Text 412"/>
          <p:cNvSpPr/>
          <p:nvPr/>
        </p:nvSpPr>
        <p:spPr>
          <a:xfrm>
            <a:off x="6141568" y="53126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</a:t>
            </a:r>
            <a:endParaRPr lang="en-US" sz="1100" dirty="0"/>
          </a:p>
        </p:txBody>
      </p:sp>
      <p:sp>
        <p:nvSpPr>
          <p:cNvPr id="415" name="Shape 413"/>
          <p:cNvSpPr/>
          <p:nvPr/>
        </p:nvSpPr>
        <p:spPr>
          <a:xfrm>
            <a:off x="7696048" y="5312664"/>
            <a:ext cx="1463040" cy="365760"/>
          </a:xfrm>
          <a:prstGeom prst="roundRect">
            <a:avLst/>
          </a:prstGeom>
          <a:solidFill>
            <a:srgbClr val="D9E4F1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416" name="Text 414"/>
          <p:cNvSpPr/>
          <p:nvPr/>
        </p:nvSpPr>
        <p:spPr>
          <a:xfrm>
            <a:off x="7696048" y="53126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417" name="Shape 415"/>
          <p:cNvSpPr/>
          <p:nvPr/>
        </p:nvSpPr>
        <p:spPr>
          <a:xfrm>
            <a:off x="9250528" y="5312664"/>
            <a:ext cx="1463040" cy="365760"/>
          </a:xfrm>
          <a:prstGeom prst="roundRect">
            <a:avLst/>
          </a:prstGeom>
          <a:solidFill>
            <a:srgbClr val="D9E4F1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418" name="Text 416"/>
          <p:cNvSpPr/>
          <p:nvPr/>
        </p:nvSpPr>
        <p:spPr>
          <a:xfrm>
            <a:off x="9250528" y="53126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</a:t>
            </a:r>
            <a:endParaRPr lang="en-US" sz="1100" dirty="0"/>
          </a:p>
        </p:txBody>
      </p:sp>
      <p:sp>
        <p:nvSpPr>
          <p:cNvPr id="419" name="Text 417"/>
          <p:cNvSpPr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appraisal: estimate many properties at once using common data and standardized methods.</a:t>
            </a:r>
            <a:endParaRPr lang="en-US" sz="1300" dirty="0"/>
          </a:p>
        </p:txBody>
      </p:sp>
      <p:sp>
        <p:nvSpPr>
          <p:cNvPr id="420" name="Text 418"/>
          <p:cNvSpPr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Preliminaries · 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homes, many features, nonlinear interactions — a natural fit for ML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501488" cy="370332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8BE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interpretable, limited nonlinearity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33008" y="1325880"/>
            <a:ext cx="5501488" cy="370332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8B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15888" y="150876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(boosted trees)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15888" y="201168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fit on tabular real-estate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75808" y="2994660"/>
            <a:ext cx="640080" cy="365760"/>
          </a:xfrm>
          <a:prstGeom prst="rightArrow">
            <a:avLst/>
          </a:prstGeom>
          <a:solidFill>
            <a:srgbClr val="1F4E79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0048" y="34518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52578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 offices have moved from linear models toward boosted trees.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Preliminaries · 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County gives us a realistic assessor workflow to study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608734" cy="2715768"/>
          </a:xfrm>
          <a:prstGeom prst="roundRect">
            <a:avLst/>
          </a:prstGeom>
          <a:solidFill>
            <a:srgbClr val="D9E4F1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55164"/>
            <a:ext cx="36087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County, Illinois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31694" y="1600200"/>
            <a:ext cx="2342827" cy="109728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8BE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31694" y="1691640"/>
            <a:ext cx="234282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23134" y="2103120"/>
            <a:ext cx="21599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+ 8-fold rolling validation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11681" y="1600200"/>
            <a:ext cx="2342827" cy="109728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8BE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1681" y="1691640"/>
            <a:ext cx="234282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03121" y="2103120"/>
            <a:ext cx="21599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91668" y="1600200"/>
            <a:ext cx="2342827" cy="109728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8BE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91668" y="1691640"/>
            <a:ext cx="234282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83108" y="2103120"/>
            <a:ext cx="21599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315968"/>
            <a:ext cx="11277295" cy="1764792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8BE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453128"/>
            <a:ext cx="25450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SAMPLE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4727448"/>
            <a:ext cx="254500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349,661 verified sales (pre-2024)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3684" y="4453128"/>
            <a:ext cx="25450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13684" y="4727448"/>
            <a:ext cx="254500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3008" y="4453128"/>
            <a:ext cx="25450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33008" y="4727448"/>
            <a:ext cx="254500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rolling-origin expanding-window folds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52331" y="4453128"/>
            <a:ext cx="25450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52331" y="4727448"/>
            <a:ext cx="254500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CCAO 2025-cycle residential (open code)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Pre-2024 modeling sample distinguished from the 2024 assessment year.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Preliminaries · 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Assessors care about fairness both within tiers and across tiers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501488" cy="370332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8BE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equity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homes should receive similar ratios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76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(bad)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27455" y="2852928"/>
            <a:ext cx="5029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7455" y="28529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r=0.82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0144" y="3154680"/>
            <a:ext cx="437540" cy="164078"/>
          </a:xfrm>
          <a:prstGeom prst="triangle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96606" y="3318758"/>
            <a:ext cx="364617" cy="291694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27868" y="3450020"/>
            <a:ext cx="102093" cy="160431"/>
          </a:xfrm>
          <a:prstGeom prst="rect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6484" y="2852928"/>
            <a:ext cx="5029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6484" y="28529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r=1.08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89174" y="3154680"/>
            <a:ext cx="437540" cy="164078"/>
          </a:xfrm>
          <a:prstGeom prst="triangle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25635" y="3318758"/>
            <a:ext cx="364617" cy="291694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6897" y="3450020"/>
            <a:ext cx="102093" cy="160431"/>
          </a:xfrm>
          <a:prstGeom prst="rect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5513" y="2852928"/>
            <a:ext cx="5029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5513" y="28529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r=1.21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18203" y="3154680"/>
            <a:ext cx="437540" cy="164078"/>
          </a:xfrm>
          <a:prstGeom prst="triangle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54664" y="3318758"/>
            <a:ext cx="364617" cy="291694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5927" y="3450020"/>
            <a:ext cx="102093" cy="160431"/>
          </a:xfrm>
          <a:prstGeom prst="rect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497580"/>
            <a:ext cx="476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(good)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27455" y="3790188"/>
            <a:ext cx="5029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27455" y="379018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r=0.98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60144" y="4091940"/>
            <a:ext cx="437540" cy="164078"/>
          </a:xfrm>
          <a:prstGeom prst="triangle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96606" y="4256018"/>
            <a:ext cx="364617" cy="291694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27868" y="4387280"/>
            <a:ext cx="102093" cy="160431"/>
          </a:xfrm>
          <a:prstGeom prst="rect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56484" y="3790188"/>
            <a:ext cx="5029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56484" y="379018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r=1.01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89174" y="4091940"/>
            <a:ext cx="437540" cy="164078"/>
          </a:xfrm>
          <a:prstGeom prst="triangle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25635" y="4256018"/>
            <a:ext cx="364617" cy="291694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56897" y="4387280"/>
            <a:ext cx="102093" cy="160431"/>
          </a:xfrm>
          <a:prstGeom prst="rect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5513" y="3790188"/>
            <a:ext cx="5029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5513" y="379018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r=1.02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18203" y="4091940"/>
            <a:ext cx="437540" cy="164078"/>
          </a:xfrm>
          <a:prstGeom prst="triangle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54664" y="4256018"/>
            <a:ext cx="364617" cy="291694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5927" y="4387280"/>
            <a:ext cx="102093" cy="160431"/>
          </a:xfrm>
          <a:prstGeom prst="rect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33008" y="1325880"/>
            <a:ext cx="5501488" cy="370332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8BE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5888" y="150876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equity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415888" y="201168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should not systematically fall with value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03262" y="3028950"/>
            <a:ext cx="5029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3262" y="302895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r=1.15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62698" y="3348990"/>
            <a:ext cx="384048" cy="144018"/>
          </a:xfrm>
          <a:prstGeom prst="triangle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94702" y="3493008"/>
            <a:ext cx="3200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09917" y="3608222"/>
            <a:ext cx="89611" cy="140818"/>
          </a:xfrm>
          <a:prstGeom prst="rect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32291" y="3028950"/>
            <a:ext cx="5029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32291" y="302895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r=1.02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681999" y="3348990"/>
            <a:ext cx="603504" cy="226314"/>
          </a:xfrm>
          <a:prstGeom prst="triangle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32291" y="3575304"/>
            <a:ext cx="5029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13343" y="3756355"/>
            <a:ext cx="140818" cy="221285"/>
          </a:xfrm>
          <a:prstGeom prst="rect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261321" y="3028950"/>
            <a:ext cx="5029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61321" y="302895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r=0.88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073869" y="3348990"/>
            <a:ext cx="877824" cy="329184"/>
          </a:xfrm>
          <a:prstGeom prst="triangle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47021" y="3678174"/>
            <a:ext cx="7315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410368" y="3941521"/>
            <a:ext cx="204826" cy="321869"/>
          </a:xfrm>
          <a:prstGeom prst="rect">
            <a:avLst/>
          </a:prstGeom>
          <a:solidFill>
            <a:srgbClr val="1F4E79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90208" y="3931920"/>
            <a:ext cx="4587088" cy="228600"/>
          </a:xfrm>
          <a:prstGeom prst="rightArrow">
            <a:avLst/>
          </a:prstGeom>
          <a:solidFill>
            <a:srgbClr val="D9E4F1"/>
          </a:solidFill>
          <a:ln w="6350">
            <a:solidFill>
              <a:srgbClr val="B8BEC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90208" y="4160520"/>
            <a:ext cx="4587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value →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415888" y="4526280"/>
            <a:ext cx="513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regressive pattern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57200" y="52578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diagnostics (COD, PRD, PRB, VEI) introduced later.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Preliminaries · 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beats linear regression on accuracy but worsens vertical equity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solidFill>
            <a:srgbClr val="FFF4D6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fit, worse vertical equity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CCAO test set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44269"/>
                <a:gridCol w="1544269"/>
                <a:gridCol w="1544269"/>
                <a:gridCol w="1544269"/>
                <a:gridCol w="1544269"/>
                <a:gridCol w="154426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$86,257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$72,064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−36.8%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5204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CCAO test set — current paper numbers.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598932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IAAO: PRD &gt; 1.03, PRB &lt; −0.05, VEI &lt; −10% indicate regressivity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Preliminaries · 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model shifts tax burden across value tiers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0120" y="1645920"/>
            <a:ext cx="6970563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B8B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3246120"/>
            <a:ext cx="6970563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82043" y="304495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7630" y="2355418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0309" y="2338382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2843" y="2159698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2738" y="1993072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6449" y="2871287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41480" y="2700181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63667" y="2529536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8733" y="2139394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75397" y="2393813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29419" y="2781702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93695" y="2732928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65143" y="3005807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7399" y="2303204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2720" y="2484141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785" y="2445071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51542" y="2598844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51542" y="2921649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00942" y="2940314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80635" y="3158478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94311" y="3064463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15286" y="3052712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36538" y="3230116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3549" y="3304442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2960" y="3631344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58724" y="3424880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34529" y="3576015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5792" y="2832703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6410" y="3276970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85406" y="3140223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76289" y="3071812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7927" y="3377565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40904" y="3273565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53305" y="3222998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05786" y="3205972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7448" y="3621871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65237" y="4042864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0199" y="3296019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20938" y="3573481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76968" y="3553203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91249" y="3556711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85352" y="3489835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0591" y="3606099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19535" y="3984130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55864" y="4089462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73089" y="3808672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62367" y="3881897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74566" y="4112889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87370" y="3792516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19811" y="3811155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46620" y="3837680"/>
            <a:ext cx="73152" cy="73152"/>
          </a:xfrm>
          <a:prstGeom prst="ellipse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0120" y="2324405"/>
            <a:ext cx="580880" cy="153619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541000" y="2478024"/>
            <a:ext cx="580880" cy="153619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121880" y="2631643"/>
            <a:ext cx="580880" cy="153619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02761" y="2785262"/>
            <a:ext cx="580880" cy="153619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83641" y="2938882"/>
            <a:ext cx="580880" cy="153619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864521" y="3092501"/>
            <a:ext cx="580880" cy="153619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45401" y="3246120"/>
            <a:ext cx="580880" cy="153619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26282" y="3399739"/>
            <a:ext cx="580880" cy="153619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607162" y="3553358"/>
            <a:ext cx="580880" cy="153619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88042" y="3706978"/>
            <a:ext cx="580880" cy="153619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68922" y="3860597"/>
            <a:ext cx="580880" cy="153619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49802" y="4014216"/>
            <a:ext cx="580880" cy="153619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" y="1691640"/>
            <a:ext cx="348528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over-assessed (r &gt; 1)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353961" y="4206240"/>
            <a:ext cx="348528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under-assessed (r &lt; 1)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960120" y="4663440"/>
            <a:ext cx="697056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log(sale price)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57200" y="2948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ratio r = P̂ / P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57200" y="37764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313639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57200" y="249631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57200" y="185623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77240" y="45445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2955541" y="45445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133842" y="45445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312142" y="45445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57200" y="5074920"/>
            <a:ext cx="77020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LightGBM, 2023 CCAO test set  (schematic)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433603" y="1325880"/>
            <a:ext cx="3300893" cy="112014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570763" y="1417320"/>
            <a:ext cx="302657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lower-value home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8570763" y="1783080"/>
            <a:ext cx="3026573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&gt; 1: over-assessed (taxed as if worth too much)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433603" y="2583180"/>
            <a:ext cx="3300893" cy="112014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570763" y="2674620"/>
            <a:ext cx="302657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higher-value home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8570763" y="3040380"/>
            <a:ext cx="3026573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&lt; 1: under-assessed (taxed as if worth too little)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433603" y="4023360"/>
            <a:ext cx="3300893" cy="1005840"/>
          </a:xfrm>
          <a:prstGeom prst="roundRect">
            <a:avLst/>
          </a:prstGeom>
          <a:solidFill>
            <a:srgbClr val="D9E4F1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570763" y="4114800"/>
            <a:ext cx="302657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P̂: predicted / assessed 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sale price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assessment ratio = P̂ / P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57200" y="53949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 is log-price because prices are highly right-skewed.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Preliminaries · 9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Reducing Regressivity in ML-based Mass Appraisal — preliminaries</dc:title>
  <dc:subject>PptxGenJS Presentation</dc:subject>
  <dc:creator>PptxGenJS</dc:creator>
  <cp:lastModifiedBy>PptxGenJS</cp:lastModifiedBy>
  <cp:revision>1</cp:revision>
  <dcterms:created xsi:type="dcterms:W3CDTF">2026-04-22T19:02:14Z</dcterms:created>
  <dcterms:modified xsi:type="dcterms:W3CDTF">2026-04-22T19:02:14Z</dcterms:modified>
</cp:coreProperties>
</file>